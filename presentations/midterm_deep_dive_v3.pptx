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822960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600" b="1">
                <a:solidFill>
                  <a:srgbClr val="2C5C9E"/>
                </a:solidFill>
                <a:latin typeface="Aptos"/>
              </a:rPr>
              <a:t>Midterm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950976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200" b="1">
                <a:solidFill>
                  <a:srgbClr val="1F2530"/>
                </a:solidFill>
                <a:latin typeface="Aptos"/>
              </a:rPr>
              <a:t>What we built, what we tested, and 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804672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0">
                <a:solidFill>
                  <a:srgbClr val="596373"/>
                </a:solidFill>
                <a:latin typeface="Aptos"/>
              </a:rPr>
              <a:t>Current-source results | 100,000 Monte Carlo draws | seed 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73152" cy="114300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858767"/>
            <a:ext cx="47731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Research spine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178807"/>
            <a:ext cx="477316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Research question -&gt; experiment setup -&gt; assumptions -&gt; results -&gt; discussion -&gt; quality outlook.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749039"/>
            <a:ext cx="73152" cy="114300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858767"/>
            <a:ext cx="47731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Key improvement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178807"/>
            <a:ext cx="4773168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This version interprets sensitivity and scenario analysis instead of only showing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What the thesis is trying to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332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73152" cy="105156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527048"/>
            <a:ext cx="100766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800" b="1">
                <a:solidFill>
                  <a:srgbClr val="2C5C9E"/>
                </a:solidFill>
                <a:latin typeface="Aptos"/>
              </a:rPr>
              <a:t>Main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47088"/>
            <a:ext cx="10076688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0">
                <a:solidFill>
                  <a:srgbClr val="1F2530"/>
                </a:solidFill>
                <a:latin typeface="Aptos"/>
              </a:rPr>
              <a:t>Which emitting sectors should implement carbon capture, and which should investigate alternative decarbonization technologies?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99669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thesis is not asking whether CCS works technically; it asks where CCS is economically preferred under uncertainty.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Carbon capture demand is therefore treated as a probability distribution generated by competition between technologies.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midterm work tests this framework on electricity and cement before extending to aluminium and chemicals.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Project work completed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Electricity NPV model: deterministic and Monte Carlo calculations for fossil, CCS, nuclear, renewable, and biogas technologies.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Cement NPV model: deterministic and Monte Carlo calculations for BAU, CCS, alternative production routes, and BAU-relative retrofits.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Aligned Monte Carlo run IDs: each simulation ID represents one shared uncertain world for fair rankings.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Comparison layer: total NPV, normalized NPV, rank probabilities, sign counts, sensitivity heatmaps, scenario analysis, and cement MACC.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Documentation layer: README, handover guide, changelog, notebooks, figures, and reproducible CLI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How the current research experiment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19456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C5C9E"/>
                </a:solidFill>
                <a:latin typeface="Aptos"/>
              </a:rPr>
              <a:t>1 TWh/y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46504"/>
            <a:ext cx="21945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electricity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417320"/>
            <a:ext cx="219456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8825C"/>
                </a:solidFill>
                <a:latin typeface="Aptos"/>
              </a:rPr>
              <a:t>1 Mt/y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46504"/>
            <a:ext cx="21945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cement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219456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C0842E"/>
                </a:solidFill>
                <a:latin typeface="Aptos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46504"/>
            <a:ext cx="21945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EUR/tCO2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17320"/>
            <a:ext cx="219456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2300" b="1">
                <a:solidFill>
                  <a:srgbClr val="2C5C9E"/>
                </a:solidFill>
                <a:latin typeface="Aptos"/>
              </a:rPr>
              <a:t>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46504"/>
            <a:ext cx="21945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596373"/>
                </a:solidFill>
                <a:latin typeface="Aptos"/>
              </a:rPr>
              <a:t>discount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8036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80360"/>
            <a:ext cx="73152" cy="12344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90088"/>
            <a:ext cx="5001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Decision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310128"/>
            <a:ext cx="500176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NPV is computed from annual revenue, CAPEX, fixed OPEX, variable OPEX, fuel/electricity cost, and carbon cost. Higher NPV is better.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73152" cy="12344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990088"/>
            <a:ext cx="47274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Uncertainty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310128"/>
            <a:ext cx="4727448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Rank probabilities estimate how often a technology wins or lands in the top three under sampled techno-economic futures.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Assumptions We Had To Make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Important modeling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14984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Market and policy assumptions: carbon price, discount rate, fuel prices, electricity price, and cement price.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Technology assumptions: CAPEX, OPEX, energy intensity, emissions intensity, full-load hours, and lifetime.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Cement retrofits are modeled relative to BAU; CCS strongly reduces emissions but can increase energy use.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Alternative fuels were corrected: fuel costs now use a 25-60% alternative-fuel share and blended fuel price.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Fuel use and emissions are currently sampled independently; this is a simplifying assumption that should be tested in future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1: Electricity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Current model says electricity CCS demand is weak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lectricity_mean_speci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51128"/>
            <a:ext cx="5623560" cy="3001463"/>
          </a:xfrm>
          <a:prstGeom prst="rect">
            <a:avLst/>
          </a:prstGeom>
        </p:spPr>
      </p:pic>
      <p:pic>
        <p:nvPicPr>
          <p:cNvPr id="6" name="Picture 5" descr="electricity_rank_prob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48736"/>
            <a:ext cx="5257800" cy="2806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Electricity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What happened in the electricity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1498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PV is the strongest technology in mean NPV: 6.56 EUR/MWh.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PV and onshore wind both have almost always non-negative NPV; offshore wind is non-negative in 75% of draws.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CCGT is the best fossil option, but remains negative on average and only occasionally reaches positive NPV.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CCGT+CCS and hard coal+CCS reduce emissions exposure but do not overcome added cost and energy penalties.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Nuclear remains negative on average because high CAPEX dominates even with high full-load hours and long lifetime.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2: Cement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Cement is the stronger CCS-demand candidate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ment_mean_speci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51128"/>
            <a:ext cx="5623560" cy="3001463"/>
          </a:xfrm>
          <a:prstGeom prst="rect">
            <a:avLst/>
          </a:prstGeom>
        </p:spPr>
      </p:pic>
      <p:pic>
        <p:nvPicPr>
          <p:cNvPr id="6" name="Picture 5" descr="cement_rank_prob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48736"/>
            <a:ext cx="5257800" cy="2806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Cement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What happened in the cement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1498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CCS has the highest mean cement NPV in the current 100,000-draw run: 20.01 EUR/t.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CCS also has the highest rank-1 probability: 52.1%.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Process heat integration, waste heat recovery, clinker substitution, and alternative fuels cluster close to CCS, so CCS is competitive rather than uncontested.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Electrification and electrolysis are strongly negative because electricity demand dominates the economics under current electricity-price assumptions.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All conventional and retrofit cement options are non-negative in the sampled baseline; the hard problem is ranking and abatement depth, not basic viability.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3: 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CO2 price and discount rate tell different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lectricity_co2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76" y="1234440"/>
            <a:ext cx="4192207" cy="2240280"/>
          </a:xfrm>
          <a:prstGeom prst="rect">
            <a:avLst/>
          </a:prstGeom>
        </p:spPr>
      </p:pic>
      <p:pic>
        <p:nvPicPr>
          <p:cNvPr id="6" name="Picture 5" descr="cement_co2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596" y="1234440"/>
            <a:ext cx="4192207" cy="2240280"/>
          </a:xfrm>
          <a:prstGeom prst="rect">
            <a:avLst/>
          </a:prstGeom>
        </p:spPr>
      </p:pic>
      <p:pic>
        <p:nvPicPr>
          <p:cNvPr id="7" name="Picture 6" descr="electricity_discount_scenar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76" y="3794760"/>
            <a:ext cx="4192207" cy="2240280"/>
          </a:xfrm>
          <a:prstGeom prst="rect">
            <a:avLst/>
          </a:prstGeom>
        </p:spPr>
      </p:pic>
      <p:pic>
        <p:nvPicPr>
          <p:cNvPr id="8" name="Picture 7" descr="cement_discount_scen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596" y="3794760"/>
            <a:ext cx="4192207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Scenario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What we learned from the scenario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CO2 price mostly affects technologies with direct emissions. PV, wind, nuclear, and biogas do not move in the direct-emissions-only setup.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Higher CO2 price makes unabated coal and gas worse, so CCS narrows the fossil gap, but does not make fossil CCS beat renewables in electricity.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In cement, higher CO2 price lowers all directly emitting routes; CCS moves less because residual emissions are small.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Lower discount rates strongly improve capital-heavy low-carbon technologies, especially PV, wind, nuclear, and cement CCS.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Even at 4% discount rate, nuclear remains close to break-even but still negative on average in the current 100,000-draw run, so its problem is not only financing; CAPEX remains too high relative to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4: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The heatmaps show why scenarios move the way they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lectricity_sensitivity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5593"/>
            <a:ext cx="5532120" cy="3412533"/>
          </a:xfrm>
          <a:prstGeom prst="rect">
            <a:avLst/>
          </a:prstGeom>
        </p:spPr>
      </p:pic>
      <p:pic>
        <p:nvPicPr>
          <p:cNvPr id="6" name="Picture 5" descr="cement_sensitivity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60665"/>
            <a:ext cx="5532120" cy="31823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Sensitivity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Main drivers by technology family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49560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Electricity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4956048" cy="1417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1F2530"/>
                </a:solidFill>
                <a:latin typeface="Aptos"/>
              </a:rPr>
              <a:t>Renewables: full-load hours, CAPEX, discount rate.</a:t>
            </a:r>
            <a:br/>
            <a:r>
              <a:t>Fossil electricity: fuel price/use, emissions, carbon price.</a:t>
            </a:r>
            <a:br/>
            <a:r>
              <a:t>Nuclear: full-load hours, CAPEX, lifetime.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92024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27048"/>
            <a:ext cx="49560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47088"/>
            <a:ext cx="4956048" cy="1417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1F2530"/>
                </a:solidFill>
                <a:latin typeface="Aptos"/>
              </a:rPr>
              <a:t>Conventional/retrofit cement: emissions, carbon price, discount rate.</a:t>
            </a:r>
            <a:br/>
            <a:r>
              <a:t>CCS cement: discount rate plus electricity penalty.</a:t>
            </a:r>
            <a:br/>
            <a:r>
              <a:t>Electrification/electrolysis: electricity use and electricity price.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This is why the scenario analysis should be discussed, not merely shown: it explains which uncertain assumptions can change the CCS-demand conclusion.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Sensitivity results also point to quality improvements: better electricity-price scenarios, better emissions modeling, and clearer source quality for technology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Result 5: Cement MACC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NPV ranking alone misses abatement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ment_macc_current_determin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4092"/>
            <a:ext cx="6492240" cy="28040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6304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463040"/>
            <a:ext cx="73152" cy="132588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572768"/>
            <a:ext cx="3721607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MACC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892808"/>
            <a:ext cx="3721607" cy="8229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CCS avoids about 0.55 MtCO2/y at 70.5 EUR/tCO2 in the deterministic current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154680"/>
            <a:ext cx="3977639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154680"/>
            <a:ext cx="73152" cy="164592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3264408"/>
            <a:ext cx="3721607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584448"/>
            <a:ext cx="3721607" cy="11430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Efficiency and heat-integration measures can be cheap or cost-saving, but their abatement depth is small. CCS is more expensive than small retrofits, but its abatement depth is much larger.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Current answer to the thesis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Electricity: CCS demand looks weak under current assumptions because non-capture renewables are economically dominant.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Cement: CCS demand looks conditional but significant because CCS is often economically competitive and provides deep direct-emissions abatement.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thesis mechanism is visible: CCS demand depends on sector-specific alternatives, not only on the cost of CCS itself.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The model should eventually classify sectors into robust CCS demand, conditional CCS demand, weak CCS demand, and unresolved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Quality-Level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How the research should get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1498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Strengthen parameter sourcing and uncertainty ranges, especially for emerging industrial technologies.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Separate technology-development uncertainty from market and policy uncertainty more explicitly.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Replace weak independent assumptions with mechanistic links where possible: fuel use, emissions, capture rate, and energy penalty.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Add incremental comparisons: CCS versus unabated counterpart in electricity, and retrofits versus BAU in cement.</a:t>
            </a:r>
          </a:p>
          <a:p>
            <a:pPr>
              <a:spcAft>
                <a:spcPts val="179"/>
              </a:spcAft>
            </a:pPr>
            <a:r>
              <a:rPr sz="1700">
                <a:solidFill>
                  <a:srgbClr val="1F2530"/>
                </a:solidFill>
                <a:latin typeface="Aptos"/>
              </a:rPr>
              <a:t>Add abatement-depth interpretation alongside NPV ranking so small cheap measures are not overinterpreted as complete CCS substitutes.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How the project proceeds scientifically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2C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49560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C5C9E"/>
                </a:solidFill>
                <a:latin typeface="Aptos"/>
              </a:rPr>
              <a:t>Aluminium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4956048" cy="9144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Add aluminium industry pathways and compare CCS with process integration, electrification, inert anodes, recycling, and fuel switching where relevant.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417320"/>
          </a:xfrm>
          <a:prstGeom prst="rect">
            <a:avLst/>
          </a:prstGeom>
          <a:solidFill>
            <a:srgbClr val="28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27048"/>
            <a:ext cx="495604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28825C"/>
                </a:solidFill>
                <a:latin typeface="Aptos"/>
              </a:rPr>
              <a:t>Chemical industries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47088"/>
            <a:ext cx="4956048" cy="9144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Add chemical-sector cases where feedstock, process emissions, hydrogen, electrification, and CCU/CCS alternatives differ by product.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107442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73152" cy="1097280"/>
          </a:xfrm>
          <a:prstGeom prst="rect">
            <a:avLst/>
          </a:prstGeom>
          <a:solidFill>
            <a:srgbClr val="C08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47288"/>
            <a:ext cx="104881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500" b="1">
                <a:solidFill>
                  <a:srgbClr val="C0842E"/>
                </a:solidFill>
                <a:latin typeface="Aptos"/>
              </a:rPr>
              <a:t>Cross-sector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767328"/>
            <a:ext cx="10488168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F2530"/>
                </a:solidFill>
                <a:latin typeface="Aptos"/>
              </a:rPr>
              <a:t>Move from technology rankings to sector-level CCS demand categories and identify the conditions that make each category robust.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1F2530"/>
                </a:solidFill>
                <a:latin typeface="Aptos"/>
              </a:rPr>
              <a:t>Technical Steps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596373"/>
                </a:solidFill>
                <a:latin typeface="Aptos"/>
              </a:rPr>
              <a:t>Implementation items, separate from research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Regenerate official tracked cement figures after the alternative-fuels correction.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Add tests for finance identities, unit conversions, sign counts, and ranking consistency.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Write reusable sector templates for aluminium and chemicals.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Archive parameter sources next to assumptions.</a:t>
            </a:r>
          </a:p>
          <a:p>
            <a:pPr>
              <a:spcAft>
                <a:spcPts val="179"/>
              </a:spcAft>
            </a:pPr>
            <a:r>
              <a:rPr sz="1800">
                <a:solidFill>
                  <a:srgbClr val="1F2530"/>
                </a:solidFill>
                <a:latin typeface="Aptos"/>
              </a:rPr>
              <a:t>Record sample size, seed, scenario values, and model version for every exported figure.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1732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800" b="0">
                <a:solidFill>
                  <a:srgbClr val="596373"/>
                </a:solidFill>
                <a:latin typeface="Aptos"/>
              </a:rPr>
              <a:t>Midterm findings |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
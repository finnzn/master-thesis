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576072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600" b="1">
                <a:solidFill>
                  <a:srgbClr val="2C5C9E"/>
                </a:solidFill>
                <a:latin typeface="Aptos"/>
              </a:rPr>
              <a:t>Midterm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72768"/>
            <a:ext cx="7955279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100" b="1">
                <a:solidFill>
                  <a:srgbClr val="1F2530"/>
                </a:solidFill>
                <a:latin typeface="Aptos"/>
              </a:rPr>
              <a:t>How uncertainty of technology development shapes carbon capture demand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7498079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596373"/>
                </a:solidFill>
                <a:latin typeface="Aptos"/>
              </a:rPr>
              <a:t>Finn | Master thesis project | ETH Zurich |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9476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794760"/>
            <a:ext cx="73152" cy="12344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904488"/>
            <a:ext cx="44988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Midterm thesis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224528"/>
            <a:ext cx="449884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F2530"/>
                </a:solidFill>
                <a:latin typeface="Aptos"/>
              </a:rPr>
              <a:t>Under techno-economic uncertainty, when is carbon capture the most economically viable option, and when do non-capture alternatives dominate?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794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3794760"/>
            <a:ext cx="73152" cy="12344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3904488"/>
            <a:ext cx="51389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Current implemented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4224528"/>
            <a:ext cx="513892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F2530"/>
                </a:solidFill>
                <a:latin typeface="Aptos"/>
              </a:rPr>
              <a:t>Two mature sectors: electricity and cement. Both use deterministic calculations, Monte Carlo rankings, sensitivity analysis, and tracked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What The Thesis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Reframed from the project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6692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CCS is important for net-zero, but deployment can be reduced if plants choose alternative decarbonization technologies.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thesis therefore studies CCS demand as a competitive investment problem, not as a standalone technology assessment.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core output is probabilistic: how often does CCS become the economically preferred option under uncertain technology development?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08760"/>
            <a:ext cx="44805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508760"/>
            <a:ext cx="73152" cy="1170432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618488"/>
            <a:ext cx="42245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2" y="1938528"/>
            <a:ext cx="4224528" cy="66751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F2530"/>
                </a:solidFill>
                <a:latin typeface="Aptos"/>
              </a:rPr>
              <a:t>Which emitting sectors should implement carbon capture, and which should investigate alternative decarbonization technologies?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971800"/>
            <a:ext cx="44805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2971800"/>
            <a:ext cx="73152" cy="132588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3081528"/>
            <a:ext cx="42245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Midterm answer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3401568"/>
            <a:ext cx="4224528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1F2530"/>
                </a:solidFill>
                <a:latin typeface="Aptos"/>
              </a:rPr>
              <a:t>For each sector: compare CCS against non-capture options using NPV distributions, rank probabilities, sensitivity heatmaps, and marginal abatement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Current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Implemented applications and comparison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5047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Electricity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47088"/>
            <a:ext cx="5047488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Hard coal, hard coal + CCS, CCGT, CCGT + CCS, nuclear, offshore wind, onshore wind, PV, biogas.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32588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27048"/>
            <a:ext cx="5047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47088"/>
            <a:ext cx="5047488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BAU, CCS, clinker substitution, alternative fuels, efficiency improvement, waste heat recovery, process heat integration, electrification, electrolysis.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033272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Both sectors are normalized to a common annual output before comparison.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The model compares technology choices within a sector, not electricity versus cement directly.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Steel, metals, and chemicals remain thesis-scope candidates, but are not yet mature midterm result sectors.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Model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From assumptions to CCS demand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73152" cy="14630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18928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2C5C9E"/>
                </a:solidFill>
                <a:latin typeface="Aptos"/>
              </a:rPr>
              <a:t>1.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58568"/>
            <a:ext cx="1892808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1F2530"/>
                </a:solidFill>
                <a:latin typeface="Aptos"/>
              </a:rPr>
              <a:t>Technology assumptions, market prices, carbon price, discount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82880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73152" cy="14630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938528"/>
            <a:ext cx="18928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28825C"/>
                </a:solidFill>
                <a:latin typeface="Aptos"/>
              </a:rPr>
              <a:t>2. 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258568"/>
            <a:ext cx="1892808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1F2530"/>
                </a:solidFill>
                <a:latin typeface="Aptos"/>
              </a:rPr>
              <a:t>Monte Carlo draws techno-economic uncertainty for each simulation world.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82880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4920" y="1828800"/>
            <a:ext cx="73152" cy="146304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1938528"/>
            <a:ext cx="18928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C0842E"/>
                </a:solidFill>
                <a:latin typeface="Aptos"/>
              </a:rPr>
              <a:t>3. Cash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258568"/>
            <a:ext cx="1892808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1F2530"/>
                </a:solidFill>
                <a:latin typeface="Aptos"/>
              </a:rPr>
              <a:t>Annual revenue minus CAPEX, OPEX, fuel, electricity, and carbon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828800"/>
            <a:ext cx="73152" cy="14630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1938528"/>
            <a:ext cx="18928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2C5C9E"/>
                </a:solidFill>
                <a:latin typeface="Aptos"/>
              </a:rPr>
              <a:t>4. NPV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258568"/>
            <a:ext cx="1892808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1F2530"/>
                </a:solidFill>
                <a:latin typeface="Aptos"/>
              </a:rPr>
              <a:t>Discount future annual cash flows over the technology lifetime.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82880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1828800"/>
            <a:ext cx="73152" cy="14630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38528"/>
            <a:ext cx="18928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28825C"/>
                </a:solidFill>
                <a:latin typeface="Aptos"/>
              </a:rPr>
              <a:t>5.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258568"/>
            <a:ext cx="1892808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1F2530"/>
                </a:solidFill>
                <a:latin typeface="Aptos"/>
              </a:rPr>
              <a:t>Rank technologies and estimate the probability that CCS is preferred.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The same sampled market conditions are reused across comparable technologies where appropriate.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Higher NPV is better; NPV = 0 is treated as non-negative.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Outputs are reported as total NPV and normalized NPV: EUR/MWh for electricity and EUR/t for cement.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Core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Common assumptions used in the current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C5C9E"/>
                </a:solidFill>
                <a:latin typeface="Aptos"/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EUR/tCO2 carbon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8825C"/>
                </a:solidFill>
                <a:latin typeface="Aptos"/>
              </a:rPr>
              <a:t>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discount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C0842E"/>
                </a:solidFill>
                <a:latin typeface="Aptos"/>
              </a:rPr>
              <a:t>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Monte Carlo draws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1417320"/>
            <a:ext cx="22402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C5C9E"/>
                </a:solidFill>
                <a:latin typeface="Aptos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1746504"/>
            <a:ext cx="224028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default random seed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73152" cy="11430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52928"/>
            <a:ext cx="5047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Electricity 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172968"/>
            <a:ext cx="504748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All electricity technologies are sized to produce 1,000,000 MWh/year. Full-load hours determine installed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4320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743200"/>
            <a:ext cx="73152" cy="114300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852928"/>
            <a:ext cx="5047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Cement normalization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172968"/>
            <a:ext cx="504748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All cement technologies are compared at 1,000,000 t/year. Cement retrofits modify a BAU baseline.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10835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51960"/>
            <a:ext cx="73152" cy="86868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61688"/>
            <a:ext cx="105796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C0842E"/>
                </a:solidFill>
                <a:latin typeface="Aptos"/>
              </a:rPr>
              <a:t>Current revenue assumptions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81728"/>
            <a:ext cx="10579608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Electricity price is fixed at 94.07 EUR/MWh for electricity-sector revenue. Cement price is fixed at 150 EUR/t for cement-sector revenue.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Shared Market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Uncertain energy prices and fixed fuel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96012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Gas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321868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Scaled beta: 12.5 / 39.3 / 89.7 EUR/MWh_th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96012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2704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Coal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47088"/>
            <a:ext cx="321868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Scaled beta: 8.14 / 12.11 / 24.17 EUR/MWh_th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96012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2704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Electricity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47088"/>
            <a:ext cx="321868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Scaled beta: 74.8 / 183.7 / 255.2 EUR/MWh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73152" cy="9601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5292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Biofuel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321868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Uniform: 5.4-32.4 EUR/MWh_th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4320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743200"/>
            <a:ext cx="73152" cy="9601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85292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Nuclear fuel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172968"/>
            <a:ext cx="321868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Fixed: 2.8 EUR/MWh_th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74320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743200"/>
            <a:ext cx="73152" cy="9601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852928"/>
            <a:ext cx="3218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Biogas fuel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172968"/>
            <a:ext cx="3218688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Fixed: 87.5 EUR/MWh_th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43400"/>
            <a:ext cx="102412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Energy-price assumptions are intentionally separated from technology-specific assumptions.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This keeps technology development uncertainty and market/policy uncertainty traceable.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Technology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What is sampled or fixed for each 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CAPEX: upfront investment cost.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Fixed OPEX: annual capacity- or output-linked fixed operating cost.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Variable OPEX: non-fuel variable operating cost.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Fuel and electricity intensity: translate energy requirements into annual costs.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Direct emissions: translate residual emissions into carbon cost.</a:t>
            </a:r>
          </a:p>
          <a:p>
            <a:pPr>
              <a:spcAft>
                <a:spcPts val="179"/>
              </a:spcAft>
            </a:pPr>
            <a:r>
              <a:rPr sz="1600">
                <a:solidFill>
                  <a:srgbClr val="1F2530"/>
                </a:solidFill>
                <a:latin typeface="Aptos"/>
              </a:rPr>
              <a:t>Lifetime and full-load hours: determine discount horizon and installed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45262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463040"/>
            <a:ext cx="73152" cy="12344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72768"/>
            <a:ext cx="4270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Cement retrofit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2" y="1892808"/>
            <a:ext cx="427024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Retrofits are represented as changes relative to BAU. CCS, for example, lowers emissions strongly but can increase fuel and electricity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63240"/>
            <a:ext cx="45262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3063240"/>
            <a:ext cx="73152" cy="123444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3172968"/>
            <a:ext cx="4270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C0842E"/>
                </a:solidFill>
                <a:latin typeface="Aptos"/>
              </a:rPr>
              <a:t>Recent assumption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493008"/>
            <a:ext cx="427024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Alternative fuels now use a 25-60% alternative-fuel share and a blended fuel price, rather than assuming 100% alternative fuel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Electricity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Mean NPV and rank probabilities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3-Average_NPV_Rank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6344"/>
            <a:ext cx="6537960" cy="34567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4173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73152" cy="1874519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2" y="152704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Dominant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847088"/>
            <a:ext cx="3904488" cy="137159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PV: average rank 1.46, rank-1 probability 62.4%.</a:t>
            </a:r>
            <a:br/>
            <a:r>
              <a:t>Onshore wind: average rank 2.03, top-3 probability 98.3%.</a:t>
            </a:r>
            <a:br/>
            <a:r>
              <a:t>Offshore wind: average rank 2.67, top-3 probability 93.4%.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520440"/>
            <a:ext cx="41605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520440"/>
            <a:ext cx="73152" cy="128016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63016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CCS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3950208"/>
            <a:ext cx="3904488" cy="777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CCGT+CCS and hard coal+CCS do not reach top-3 probability above 3.2% and 0.0%, respectively.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Electricity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What the ranking says about CCS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In the current model, electricity-sector CCS demand is weak because renewable options dominate the economic ranking.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CCS reduces carbon costs for fossil generation, but added CAPEX, OPEX, and fuel consumption keep CCS behind PV and wind.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Nuclear is disadvantaged by high upfront CAPEX despite high full-load hours and a 45-year lifetime.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Biogas is penalized by high fixed fuel cost.</a:t>
            </a:r>
          </a:p>
        </p:txBody>
      </p:sp>
      <p:pic>
        <p:nvPicPr>
          <p:cNvPr id="6" name="Picture 5" descr="2026-06-23-Mean_NPV_per_MWh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83407"/>
            <a:ext cx="4754880" cy="3182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Cement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A stronger but uncertain case for CCS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3-Average_NPV_Rank_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60302"/>
            <a:ext cx="6537960" cy="34288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417320"/>
            <a:ext cx="41605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73152" cy="14173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2" y="152704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CCS probability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847088"/>
            <a:ext cx="3904488" cy="9144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CCS has rank-1 probability 51.7%, the highest in cement. But its average rank is 3.44, showing high volatility.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063240"/>
            <a:ext cx="41605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063240"/>
            <a:ext cx="73152" cy="132588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172968"/>
            <a:ext cx="39044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Competing non-capture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3493008"/>
            <a:ext cx="3904488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Process heat integration, waste heat recovery, and clinker substitution all have top-3 probabilities above 56.7%.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Cement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CCS competes with low-cost retrofits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62356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Cement is currently the stronger CCS-demand candidate because CCS provides large direct emissions reduction.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However, non-capture retrofits can remain economically attractive because they add little CAPEX and reduce energy or emissions intensity.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Electrification and electrolysis are currently unattractive because electricity demand is high under the present electricity-price assumption.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Therefore, cement CCS demand depends on the trade-off between abatement depth and retrofit cost.</a:t>
            </a:r>
          </a:p>
        </p:txBody>
      </p:sp>
      <p:pic>
        <p:nvPicPr>
          <p:cNvPr id="6" name="Picture 5" descr="2026-06-23-Mean_NPV_per_t_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97655"/>
            <a:ext cx="4709160" cy="3154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Sensitivity: 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Standardized +/-20% changes in model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4-Sensitivity_Heatmap_Standardized_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8931"/>
            <a:ext cx="7406640" cy="4260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41732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417320"/>
            <a:ext cx="73152" cy="178308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527048"/>
            <a:ext cx="29900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Main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847088"/>
            <a:ext cx="2990088" cy="12801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Electricity-intensive cement routes are highly sensitive to electricity price and electricity use. Conventional and retrofit routes are more sensitive to emissions, carbon price, and financial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52044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520440"/>
            <a:ext cx="73152" cy="11430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3630168"/>
            <a:ext cx="29900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Interpretation for CCS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950208"/>
            <a:ext cx="299008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CCS attractiveness is coupled to carbon price, residual emissions, energy penalty, and discount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Sensitivity: Electricity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Standardized +/-20% changes in model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4-Sensitivity_Heatmap_Standardized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40" y="1261872"/>
            <a:ext cx="7189399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41732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417320"/>
            <a:ext cx="73152" cy="178308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527048"/>
            <a:ext cx="29900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Main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847088"/>
            <a:ext cx="2990088" cy="12801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Fossil technologies are exposed to fuel price, fuel use, emissions, and carbon price. Renewable technologies are mainly exposed to investment cost, fixed OPEX, and full-load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52044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520440"/>
            <a:ext cx="73152" cy="132588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3630168"/>
            <a:ext cx="29900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Interpretation for CCS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950208"/>
            <a:ext cx="2990088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CCS can reduce carbon-price exposure but adds cost and efficiency penalties, so it does not become dominant in electricity under the current setup.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Cement MACC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Abatement cost connects economics with emissions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6-Cement_MACC_Determin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4461"/>
            <a:ext cx="7040880" cy="30410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41732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417320"/>
            <a:ext cx="73152" cy="16916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2" y="1527048"/>
            <a:ext cx="33101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Deterministic MACC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1847088"/>
            <a:ext cx="3310128" cy="11887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Efficiency improvement: -87.9 EUR/tCO2.</a:t>
            </a:r>
            <a:br/>
            <a:r>
              <a:t>Process heat integration: -8.0 EUR/tCO2.</a:t>
            </a:r>
            <a:br/>
            <a:r>
              <a:t>CCS: 70.5 EUR/tCO2.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42900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3429000"/>
            <a:ext cx="73152" cy="132588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3538728"/>
            <a:ext cx="33101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Simulated CCS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3858768"/>
            <a:ext cx="3310128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CCS median: 68.4 EUR/tCO2.</a:t>
            </a:r>
            <a:br/>
            <a:r>
              <a:t>p05-p95: 25.3 to 118.9 EUR/tCO2.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What This Means For CCS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Midterm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13716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18488"/>
            <a:ext cx="49103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Electricity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4910328" cy="868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Low expected CCS demand in the current setup. Renewables dominate the NPV ranking; CCS is not frequently the preferred electricity 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73152" cy="137160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618488"/>
            <a:ext cx="491032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938528"/>
            <a:ext cx="4910328" cy="8686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Stronger CCS-demand signal. CCS often ranks first and provides high abatement, but low-cost retrofits remain strong competitors.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24128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The thesis question is sector-specific: CCS is not universally dominant or universally unattractive.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A useful demand indicator is the probability that CCS ranks first or in the top three, not only the mean NPV.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Abatement depth matters: small retrofits can be cheap, while CCS can deliver larger emissions reductions.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What should be caveated in the midterm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Only electricity and cement are mature enough for results; other proposed sectors are not yet modeled.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There is no formal automated test suite yet; validation uses compilation, smoke runs, and notebook execution.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Some physical correlations are simplified, especially between fuel use and emissions.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Results depend strongly on assumed product prices, carbon price, energy prices, and discount rate.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Stored June 23 cement summary figures predate the June 29 alternative-fuels correction and should be regenerated before final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From midterm results to final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00584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3127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C0842E"/>
                </a:solidFill>
                <a:latin typeface="Aptos"/>
              </a:rPr>
              <a:t>Regenerate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92808"/>
            <a:ext cx="3127248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Regenerate cement summary outputs after the alternative-fuels correction.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10058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72768"/>
            <a:ext cx="3127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Extend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92808"/>
            <a:ext cx="3127248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Add further emitting sectors if needed: steel/metals/chemicals.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10058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72768"/>
            <a:ext cx="3127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Improve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92808"/>
            <a:ext cx="3127248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Add correlation checks and stronger unit-identity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73152" cy="10058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35808"/>
            <a:ext cx="3127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Scenario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355848"/>
            <a:ext cx="3127248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Use CO2 price and discount-rate scenarios to test when CCS becomes robust.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2608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926080"/>
            <a:ext cx="73152" cy="10058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035808"/>
            <a:ext cx="3127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Final narrative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355848"/>
            <a:ext cx="3127248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Translate model outputs into CCS demand categories by sector and application.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92608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26080"/>
            <a:ext cx="73152" cy="100584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035808"/>
            <a:ext cx="31272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C0842E"/>
                </a:solidFill>
                <a:latin typeface="Aptos"/>
              </a:rPr>
              <a:t>Presentation polish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355848"/>
            <a:ext cx="3127248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Update deck figures after reruns and add source references for final defense.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Appendix: Deterministic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Representative calculations for checking intuition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3-Deterministic_NPV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80" y="1417320"/>
            <a:ext cx="5077118" cy="4297680"/>
          </a:xfrm>
          <a:prstGeom prst="rect">
            <a:avLst/>
          </a:prstGeom>
        </p:spPr>
      </p:pic>
      <p:pic>
        <p:nvPicPr>
          <p:cNvPr id="6" name="Picture 5" descr="2026-06-23-Deterministic_NPV_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840" y="1417320"/>
            <a:ext cx="507711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Appendix: Simulated Cement MACC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Uncertainty around abatement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26-06-26-Cement_MACC_Simul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59" y="1325880"/>
            <a:ext cx="10162001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
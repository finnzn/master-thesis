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68680"/>
            <a:ext cx="8778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3400" b="1">
                <a:solidFill>
                  <a:srgbClr val="2C5C9E"/>
                </a:solidFill>
                <a:latin typeface="Aptos"/>
              </a:rPr>
              <a:t>Midterm Research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481328"/>
            <a:ext cx="987552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100" b="1">
                <a:solidFill>
                  <a:srgbClr val="1F2530"/>
                </a:solidFill>
                <a:latin typeface="Aptos"/>
              </a:rPr>
              <a:t>Impact of technology-development uncertainty on carbon-capture demand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29968"/>
            <a:ext cx="804672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300" b="0">
                <a:solidFill>
                  <a:srgbClr val="596373"/>
                </a:solidFill>
                <a:latin typeface="Aptos"/>
              </a:rPr>
              <a:t>Research midterm | Master thesis | ETH Zurich | July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886200"/>
            <a:ext cx="5257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3886200"/>
            <a:ext cx="73152" cy="1143000"/>
          </a:xfrm>
          <a:prstGeom prst="rect">
            <a:avLst/>
          </a:prstGeom>
          <a:solidFill>
            <a:srgbClr val="28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3995928"/>
            <a:ext cx="50017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8825C"/>
                </a:solidFill>
                <a:latin typeface="Aptos"/>
              </a:rPr>
              <a:t>Central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4315968"/>
            <a:ext cx="5001768" cy="6400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300" b="0">
                <a:solidFill>
                  <a:srgbClr val="1F2530"/>
                </a:solidFill>
                <a:latin typeface="Aptos"/>
              </a:rPr>
              <a:t>Carbon capture demand is modeled as an uncertain outcome of competition between CCS and alternative decarbonization technologies.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886200"/>
            <a:ext cx="4983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3886200"/>
            <a:ext cx="73152" cy="1143000"/>
          </a:xfrm>
          <a:prstGeom prst="rect">
            <a:avLst/>
          </a:prstGeom>
          <a:solidFill>
            <a:srgbClr val="2C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3995928"/>
            <a:ext cx="472744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C5C9E"/>
                </a:solidFill>
                <a:latin typeface="Aptos"/>
              </a:rPr>
              <a:t>Current midterm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4315968"/>
            <a:ext cx="4727448" cy="6400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300" b="0">
                <a:solidFill>
                  <a:srgbClr val="1F2530"/>
                </a:solidFill>
                <a:latin typeface="Aptos"/>
              </a:rPr>
              <a:t>The implemented model currently compares electricity and cement technologies using deterministic and Monte Carlo NPV analysis.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The project question from the thesis proposal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417320"/>
            <a:ext cx="10332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417320"/>
            <a:ext cx="73152" cy="1143000"/>
          </a:xfrm>
          <a:prstGeom prst="rect">
            <a:avLst/>
          </a:prstGeom>
          <a:solidFill>
            <a:srgbClr val="2C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527048"/>
            <a:ext cx="1007668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800" b="1">
                <a:solidFill>
                  <a:srgbClr val="2C5C9E"/>
                </a:solidFill>
                <a:latin typeface="Aptos"/>
              </a:rPr>
              <a:t>Main research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847088"/>
            <a:ext cx="10076688" cy="6400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600" b="0">
                <a:solidFill>
                  <a:srgbClr val="1F2530"/>
                </a:solidFill>
                <a:latin typeface="Aptos"/>
              </a:rPr>
              <a:t>Which emitting sectors should implement carbon capture, and which should investigate alternative decarbonization technologies?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63240"/>
            <a:ext cx="996696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79"/>
              </a:spcAft>
            </a:pPr>
            <a:r>
              <a:rPr sz="1800">
                <a:solidFill>
                  <a:srgbClr val="1F2530"/>
                </a:solidFill>
                <a:latin typeface="Aptos"/>
              </a:rPr>
              <a:t>The question is sector-specific: CCS may be attractive in one application and unattractive in another.</a:t>
            </a:r>
          </a:p>
          <a:p>
            <a:pPr>
              <a:spcAft>
                <a:spcPts val="179"/>
              </a:spcAft>
            </a:pPr>
            <a:r>
              <a:rPr sz="1800">
                <a:solidFill>
                  <a:srgbClr val="1F2530"/>
                </a:solidFill>
                <a:latin typeface="Aptos"/>
              </a:rPr>
              <a:t>The question is probabilistic: technology costs, operating costs, energy requirements, energy prices, and carbon prices are uncertain.</a:t>
            </a:r>
          </a:p>
          <a:p>
            <a:pPr>
              <a:spcAft>
                <a:spcPts val="179"/>
              </a:spcAft>
            </a:pPr>
            <a:r>
              <a:rPr sz="1800">
                <a:solidFill>
                  <a:srgbClr val="1F2530"/>
                </a:solidFill>
                <a:latin typeface="Aptos"/>
              </a:rPr>
              <a:t>The question is competitive: CCS must be compared against non-capture options, not evaluated in isolation.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What We Want To Find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Research objective translated into measurable outputs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375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1143000"/>
          </a:xfrm>
          <a:prstGeom prst="rect">
            <a:avLst/>
          </a:prstGeom>
          <a:solidFill>
            <a:srgbClr val="2C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27048"/>
            <a:ext cx="308152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C5C9E"/>
                </a:solidFill>
                <a:latin typeface="Aptos"/>
              </a:rPr>
              <a:t>1. Economic preference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847088"/>
            <a:ext cx="3081528" cy="6400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Which technology has the highest NPV under a given sampled future?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73152" cy="1143000"/>
          </a:xfrm>
          <a:prstGeom prst="rect">
            <a:avLst/>
          </a:prstGeom>
          <a:solidFill>
            <a:srgbClr val="28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527048"/>
            <a:ext cx="308152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8825C"/>
                </a:solidFill>
                <a:latin typeface="Aptos"/>
              </a:rPr>
              <a:t>2. CCS probability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1847088"/>
            <a:ext cx="3081528" cy="6400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How often does CCS rank first or near the top across uncertain techno-economic conditions?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3375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73152" cy="1143000"/>
          </a:xfrm>
          <a:prstGeom prst="rect">
            <a:avLst/>
          </a:prstGeom>
          <a:solidFill>
            <a:srgbClr val="C08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527048"/>
            <a:ext cx="308152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C0842E"/>
                </a:solidFill>
                <a:latin typeface="Aptos"/>
              </a:rPr>
              <a:t>3. Abatement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847088"/>
            <a:ext cx="3081528" cy="6400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How much emissions reduction does each option provide, and at what marginal cost?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246120"/>
            <a:ext cx="10149840" cy="1234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79"/>
              </a:spcAft>
            </a:pPr>
            <a:r>
              <a:rPr sz="1800">
                <a:solidFill>
                  <a:srgbClr val="1F2530"/>
                </a:solidFill>
                <a:latin typeface="Aptos"/>
              </a:rPr>
              <a:t>The midterm model therefore reports NPV distributions, ranking probabilities, sensitivity results, and cement marginal abatement costs.</a:t>
            </a:r>
          </a:p>
          <a:p>
            <a:pPr>
              <a:spcAft>
                <a:spcPts val="179"/>
              </a:spcAft>
            </a:pPr>
            <a:r>
              <a:rPr sz="1800">
                <a:solidFill>
                  <a:srgbClr val="1F2530"/>
                </a:solidFill>
                <a:latin typeface="Aptos"/>
              </a:rPr>
              <a:t>The final thesis should connect these outputs to sector-level CCS demand: strong, conditional, weak, or not yet assessable.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Experiment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Current modeled sectors and technology options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1234440"/>
          </a:xfrm>
          <a:prstGeom prst="rect">
            <a:avLst/>
          </a:prstGeom>
          <a:solidFill>
            <a:srgbClr val="2C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27048"/>
            <a:ext cx="504748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C5C9E"/>
                </a:solidFill>
                <a:latin typeface="Aptos"/>
              </a:rPr>
              <a:t>Electricity sector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847088"/>
            <a:ext cx="5047488" cy="7315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Hard coal, hard coal + CCS, CCGT, CCGT + CCS, nuclear, offshore wind, onshore wind, PV, and biogas.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1732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73152" cy="1234440"/>
          </a:xfrm>
          <a:prstGeom prst="rect">
            <a:avLst/>
          </a:prstGeom>
          <a:solidFill>
            <a:srgbClr val="28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527048"/>
            <a:ext cx="504748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8825C"/>
                </a:solidFill>
                <a:latin typeface="Aptos"/>
              </a:rPr>
              <a:t>Cement sector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847088"/>
            <a:ext cx="5047488" cy="7315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BAU, CCS, clinker substitution, alternative fuels, efficiency improvement, waste heat recovery, process heat integration, electrification, and electrolysis.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46120"/>
            <a:ext cx="1014984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Within each sector, technologies are normalized to the same annual output so rankings are not driven by plant size.</a:t>
            </a:r>
          </a:p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Electricity technologies are modeled as absolute production options.</a:t>
            </a:r>
          </a:p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Cement contains both absolute technologies and retrofit technologies relative to BAU.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Model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Baseline setup used for the current midterm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240280" cy="329184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2300" b="1">
                <a:solidFill>
                  <a:srgbClr val="2C5C9E"/>
                </a:solidFill>
                <a:latin typeface="Aptos"/>
              </a:rPr>
              <a:t>1 TWh/y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46504"/>
            <a:ext cx="2240280" cy="3840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0">
                <a:solidFill>
                  <a:srgbClr val="596373"/>
                </a:solidFill>
                <a:latin typeface="Aptos"/>
              </a:rPr>
              <a:t>electricity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417320"/>
            <a:ext cx="2240280" cy="329184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2300" b="1">
                <a:solidFill>
                  <a:srgbClr val="28825C"/>
                </a:solidFill>
                <a:latin typeface="Aptos"/>
              </a:rPr>
              <a:t>1 Mt/y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746504"/>
            <a:ext cx="2240280" cy="3840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0">
                <a:solidFill>
                  <a:srgbClr val="596373"/>
                </a:solidFill>
                <a:latin typeface="Aptos"/>
              </a:rPr>
              <a:t>cement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79" y="1417320"/>
            <a:ext cx="2240280" cy="329184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2300" b="1">
                <a:solidFill>
                  <a:srgbClr val="C0842E"/>
                </a:solidFill>
                <a:latin typeface="Aptos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79" y="1746504"/>
            <a:ext cx="2240280" cy="3840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0">
                <a:solidFill>
                  <a:srgbClr val="596373"/>
                </a:solidFill>
                <a:latin typeface="Aptos"/>
              </a:rPr>
              <a:t>EUR/tCO2 carbon price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3999" y="1417320"/>
            <a:ext cx="2240280" cy="329184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2300" b="1">
                <a:solidFill>
                  <a:srgbClr val="2C5C9E"/>
                </a:solidFill>
                <a:latin typeface="Aptos"/>
              </a:rPr>
              <a:t>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3999" y="1746504"/>
            <a:ext cx="2240280" cy="3840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0">
                <a:solidFill>
                  <a:srgbClr val="596373"/>
                </a:solidFill>
                <a:latin typeface="Aptos"/>
              </a:rPr>
              <a:t>discount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26080"/>
            <a:ext cx="51206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926080"/>
            <a:ext cx="73152" cy="960120"/>
          </a:xfrm>
          <a:prstGeom prst="rect">
            <a:avLst/>
          </a:prstGeom>
          <a:solidFill>
            <a:srgbClr val="2C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035808"/>
            <a:ext cx="486460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C5C9E"/>
                </a:solidFill>
                <a:latin typeface="Aptos"/>
              </a:rPr>
              <a:t>Revenue assumptions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3355848"/>
            <a:ext cx="4864608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Electricity revenue uses 94.07 EUR/MWh. Cement revenue uses 150 EUR/t.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926080"/>
            <a:ext cx="51206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926080"/>
            <a:ext cx="73152" cy="960120"/>
          </a:xfrm>
          <a:prstGeom prst="rect">
            <a:avLst/>
          </a:prstGeom>
          <a:solidFill>
            <a:srgbClr val="28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3035808"/>
            <a:ext cx="486460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8825C"/>
                </a:solidFill>
                <a:latin typeface="Aptos"/>
              </a:rPr>
              <a:t>Uncertainty approach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3355848"/>
            <a:ext cx="4864608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Monte Carlo simulation samples technology and market inputs. Default setup uses 100,000 draws and seed 42.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343400"/>
            <a:ext cx="106527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343400"/>
            <a:ext cx="73152" cy="868680"/>
          </a:xfrm>
          <a:prstGeom prst="rect">
            <a:avLst/>
          </a:prstGeom>
          <a:solidFill>
            <a:srgbClr val="C08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4453128"/>
            <a:ext cx="1039672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C0842E"/>
                </a:solidFill>
                <a:latin typeface="Aptos"/>
              </a:rPr>
              <a:t>Decision metric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" y="4773168"/>
            <a:ext cx="10396728" cy="3657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Higher NPV is better. Results are evaluated as total NPV and normalized NPV: EUR/MWh for electricity and EUR/t for cement.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Input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Main parameter groups driving the experiment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5669280" cy="3108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Technology cost: CAPEX, fixed OPEX, variable OPEX.</a:t>
            </a:r>
          </a:p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Energy requirements: fuel consumption, electricity consumption, full-load hours.</a:t>
            </a:r>
          </a:p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Environmental performance: direct emissions and residual emissions after CCS.</a:t>
            </a:r>
          </a:p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Market and policy inputs: electricity price, cement price, fuel prices, carbon price, discount rate.</a:t>
            </a:r>
          </a:p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Cement retrofit inputs: CAPEX/OPEX changes and reductions in fuel use, electricity use, and emissions relative to BAU.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554480"/>
            <a:ext cx="434340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20840" y="1554480"/>
            <a:ext cx="73152" cy="1508760"/>
          </a:xfrm>
          <a:prstGeom prst="rect">
            <a:avLst/>
          </a:prstGeom>
          <a:solidFill>
            <a:srgbClr val="C08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664208"/>
            <a:ext cx="40873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C0842E"/>
                </a:solidFill>
                <a:latin typeface="Aptos"/>
              </a:rPr>
              <a:t>Recent modeling correction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85432" y="1984248"/>
            <a:ext cx="4087368" cy="10058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Alternative fuels in cement now use a 25-60% alternative-fuel share with a blended fuel price. This avoids assuming 100% alternative-fuel use while emissions reductions only reflect partial substitution.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3429000"/>
            <a:ext cx="43434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20840" y="3429000"/>
            <a:ext cx="73152" cy="1234440"/>
          </a:xfrm>
          <a:prstGeom prst="rect">
            <a:avLst/>
          </a:prstGeom>
          <a:solidFill>
            <a:srgbClr val="28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85432" y="3538728"/>
            <a:ext cx="40873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8825C"/>
                </a:solidFill>
                <a:latin typeface="Aptos"/>
              </a:rPr>
              <a:t>Research implication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5432" y="3858768"/>
            <a:ext cx="4087368" cy="7315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Model assumptions directly influence CCS demand conclusions, so transparent parameter ownership is part of the research method.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Result 1: Electricity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Renewables dominate current NPV rankings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026-06-23-Average_NPV_Rank_Electri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28056"/>
            <a:ext cx="6537960" cy="34567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60920" y="1417320"/>
            <a:ext cx="416052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60920" y="1417320"/>
            <a:ext cx="73152" cy="1645920"/>
          </a:xfrm>
          <a:prstGeom prst="rect">
            <a:avLst/>
          </a:prstGeom>
          <a:solidFill>
            <a:srgbClr val="28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25512" y="1527048"/>
            <a:ext cx="390448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8825C"/>
                </a:solidFill>
                <a:latin typeface="Aptos"/>
              </a:rPr>
              <a:t>Ranking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5512" y="1847088"/>
            <a:ext cx="3904488" cy="11430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PV has average rank 1.46 and rank-1 probability 62.4%. Onshore and offshore wind have top-3 probabilities of 98.3% and 93.4%.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3429000"/>
            <a:ext cx="4160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3429000"/>
            <a:ext cx="73152" cy="1143000"/>
          </a:xfrm>
          <a:prstGeom prst="rect">
            <a:avLst/>
          </a:prstGeom>
          <a:solidFill>
            <a:srgbClr val="2C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25512" y="3538728"/>
            <a:ext cx="390448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C5C9E"/>
                </a:solidFill>
                <a:latin typeface="Aptos"/>
              </a:rPr>
              <a:t>CCS 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5512" y="3858768"/>
            <a:ext cx="3904488" cy="6400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CCGT+CCS top-3 probability is 3.2%; hard coal+CCS top-3 probability is 0.0%.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Result 2: 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CCS is competitive, but not uncontested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026-06-23-Average_NPV_Rank_C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42014"/>
            <a:ext cx="6537960" cy="342883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60920" y="1417320"/>
            <a:ext cx="4160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60920" y="1417320"/>
            <a:ext cx="73152" cy="1508760"/>
          </a:xfrm>
          <a:prstGeom prst="rect">
            <a:avLst/>
          </a:prstGeom>
          <a:solidFill>
            <a:srgbClr val="28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25512" y="1527048"/>
            <a:ext cx="390448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8825C"/>
                </a:solidFill>
                <a:latin typeface="Aptos"/>
              </a:rPr>
              <a:t>CCS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5512" y="1847088"/>
            <a:ext cx="3904488" cy="10058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CCS has the highest rank-1 probability in cement: 51.7%. Its average rank is 3.44, showing that outcomes are highly scenario-dependent.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3291840"/>
            <a:ext cx="41605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3291840"/>
            <a:ext cx="73152" cy="1234440"/>
          </a:xfrm>
          <a:prstGeom prst="rect">
            <a:avLst/>
          </a:prstGeom>
          <a:solidFill>
            <a:srgbClr val="2C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25512" y="3401568"/>
            <a:ext cx="390448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C5C9E"/>
                </a:solidFill>
                <a:latin typeface="Aptos"/>
              </a:rPr>
              <a:t>Non-capture competition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5512" y="3721608"/>
            <a:ext cx="3904488" cy="7315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Process heat integration, waste heat recovery, and clinker substitution are strong competitors because they improve economics without very high CAPEX.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Result 3: Cement MACC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CCS has large abatement potential at moderate cost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026-06-26-Cement_MACC_Determinis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34587"/>
            <a:ext cx="7086600" cy="306080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909560" y="1417320"/>
            <a:ext cx="34747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09560" y="1417320"/>
            <a:ext cx="73152" cy="1554480"/>
          </a:xfrm>
          <a:prstGeom prst="rect">
            <a:avLst/>
          </a:prstGeom>
          <a:solidFill>
            <a:srgbClr val="28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1527048"/>
            <a:ext cx="321868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8825C"/>
                </a:solidFill>
                <a:latin typeface="Aptos"/>
              </a:rPr>
              <a:t>Deterministic abatement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1847088"/>
            <a:ext cx="3218688" cy="10515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Efficiency improvement: -87.9 EUR/tCO2.</a:t>
            </a:r>
            <a:br/>
            <a:r>
              <a:t>Process heat integration: -8.0 EUR/tCO2.</a:t>
            </a:r>
            <a:br/>
            <a:r>
              <a:t>CCS: 70.5 EUR/tCO2.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3337560"/>
            <a:ext cx="34747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0" y="3337560"/>
            <a:ext cx="73152" cy="1234440"/>
          </a:xfrm>
          <a:prstGeom prst="rect">
            <a:avLst/>
          </a:prstGeom>
          <a:solidFill>
            <a:srgbClr val="2C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74152" y="3447288"/>
            <a:ext cx="321868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C5C9E"/>
                </a:solidFill>
                <a:latin typeface="Aptos"/>
              </a:rPr>
              <a:t>Simulated CCS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4152" y="3767328"/>
            <a:ext cx="3218688" cy="7315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CCS median: 68.4 EUR/tCO2.</a:t>
            </a:r>
            <a:br/>
            <a:r>
              <a:t>p05-p95: 25.3 to 118.9 EUR/tCO2.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Result 4: Sensitivity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Which assumptions drive the results?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026-06-24-Sensitivity_Heatmap_Standardized_C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68677"/>
            <a:ext cx="5440680" cy="3129788"/>
          </a:xfrm>
          <a:prstGeom prst="rect">
            <a:avLst/>
          </a:prstGeom>
        </p:spPr>
      </p:pic>
      <p:pic>
        <p:nvPicPr>
          <p:cNvPr id="6" name="Picture 5" descr="2026-06-24-Sensitivity_Heatmap_Standardized_Electri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755507"/>
            <a:ext cx="5440680" cy="33561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Interpreting the midterm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400800" cy="3566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79"/>
              </a:spcAft>
            </a:pPr>
            <a:r>
              <a:rPr sz="1800">
                <a:solidFill>
                  <a:srgbClr val="1F2530"/>
                </a:solidFill>
                <a:latin typeface="Aptos"/>
              </a:rPr>
              <a:t>Electricity: current model results suggest weak CCS demand because renewable generation dominates economically.</a:t>
            </a:r>
          </a:p>
          <a:p>
            <a:pPr>
              <a:spcAft>
                <a:spcPts val="179"/>
              </a:spcAft>
            </a:pPr>
            <a:r>
              <a:rPr sz="1800">
                <a:solidFill>
                  <a:srgbClr val="1F2530"/>
                </a:solidFill>
                <a:latin typeface="Aptos"/>
              </a:rPr>
              <a:t>Cement: current model results suggest conditional CCS demand because CCS frequently ranks first and offers deep abatement, but low-cost retrofits compete strongly.</a:t>
            </a:r>
          </a:p>
          <a:p>
            <a:pPr>
              <a:spcAft>
                <a:spcPts val="179"/>
              </a:spcAft>
            </a:pPr>
            <a:r>
              <a:rPr sz="1800">
                <a:solidFill>
                  <a:srgbClr val="1F2530"/>
                </a:solidFill>
                <a:latin typeface="Aptos"/>
              </a:rPr>
              <a:t>The same technology, CCS, has different demand implications by sector because alternatives, emissions sources, and energy requirements differ.</a:t>
            </a:r>
          </a:p>
          <a:p>
            <a:pPr>
              <a:spcAft>
                <a:spcPts val="179"/>
              </a:spcAft>
            </a:pPr>
            <a:r>
              <a:rPr sz="1800">
                <a:solidFill>
                  <a:srgbClr val="1F2530"/>
                </a:solidFill>
                <a:latin typeface="Aptos"/>
              </a:rPr>
              <a:t>This supports the thesis framing: CCS demand uncertainty should be modeled through sector-specific competition under uncertainty.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828800"/>
            <a:ext cx="356616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35240" y="1828800"/>
            <a:ext cx="73152" cy="1645920"/>
          </a:xfrm>
          <a:prstGeom prst="rect">
            <a:avLst/>
          </a:prstGeom>
          <a:solidFill>
            <a:srgbClr val="28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99832" y="1938528"/>
            <a:ext cx="331012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8825C"/>
                </a:solidFill>
                <a:latin typeface="Aptos"/>
              </a:rPr>
              <a:t>Preliminary 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99832" y="2258568"/>
            <a:ext cx="3310128" cy="11430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300" b="0">
                <a:solidFill>
                  <a:srgbClr val="1F2530"/>
                </a:solidFill>
                <a:latin typeface="Aptos"/>
              </a:rPr>
              <a:t>CCS should not be treated as a universal decarbonization default. Its role is strongest where alternatives are costly, incomplete, or unable to address process emissions.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Quality-Level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How the research design can become stronger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14984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Improve source quality and traceability for every parameter range, especially emerging technologies.</a:t>
            </a:r>
          </a:p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Represent uncertainty correlations where independent sampling is physically weak, for example fuel use and emissions.</a:t>
            </a:r>
          </a:p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Separate market, policy, and technology-development uncertainty more explicitly.</a:t>
            </a:r>
          </a:p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Use scenario families to test robustness rather than relying only on one central assumption set.</a:t>
            </a:r>
          </a:p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Clarify the decision criterion: highest expected NPV, probability of rank 1, probability of top 3, or abatement-adjusted value.</a:t>
            </a:r>
          </a:p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Move from technology ranking to sector-level CCS demand categories.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How the project proceeds scientifically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66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1371600"/>
          </a:xfrm>
          <a:prstGeom prst="rect">
            <a:avLst/>
          </a:prstGeom>
          <a:solidFill>
            <a:srgbClr val="2C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27048"/>
            <a:ext cx="491032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C5C9E"/>
                </a:solidFill>
                <a:latin typeface="Aptos"/>
              </a:rPr>
              <a:t>Broaden sector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847088"/>
            <a:ext cx="4910328" cy="8686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Next modeled sectors: aluminium and chemical industries. These extend the thesis beyond electricity and cement toward industrial CCS demand.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166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73152" cy="1371600"/>
          </a:xfrm>
          <a:prstGeom prst="rect">
            <a:avLst/>
          </a:prstGeom>
          <a:solidFill>
            <a:srgbClr val="28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527048"/>
            <a:ext cx="491032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8825C"/>
                </a:solidFill>
                <a:latin typeface="Aptos"/>
              </a:rPr>
              <a:t>Deepen 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1847088"/>
            <a:ext cx="4910328" cy="8686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For each sector, classify CCS demand as robust, conditional, weak, or dependent on unresolved assumptions.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46120"/>
            <a:ext cx="5166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246120"/>
            <a:ext cx="73152" cy="1371600"/>
          </a:xfrm>
          <a:prstGeom prst="rect">
            <a:avLst/>
          </a:prstGeom>
          <a:solidFill>
            <a:srgbClr val="C08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355848"/>
            <a:ext cx="491032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C0842E"/>
                </a:solidFill>
                <a:latin typeface="Aptos"/>
              </a:rPr>
              <a:t>Compare across sectors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675888"/>
            <a:ext cx="4910328" cy="8686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Identify common drivers of CCS competitiveness: process emissions, energy penalties, electricity intensity, carbon price exposure, and retrofit availability.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246120"/>
            <a:ext cx="5166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246120"/>
            <a:ext cx="73152" cy="1371600"/>
          </a:xfrm>
          <a:prstGeom prst="rect">
            <a:avLst/>
          </a:prstGeom>
          <a:solidFill>
            <a:srgbClr val="2C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3355848"/>
            <a:ext cx="491032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C5C9E"/>
                </a:solidFill>
                <a:latin typeface="Aptos"/>
              </a:rPr>
              <a:t>Build final thesis argument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3675888"/>
            <a:ext cx="4910328" cy="8686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Translate probabilistic technology rankings into a clear narrative about where carbon capture demand is likely, uncertain, or displaced by alternatives.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Technical Steps 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Implementation tasks separated from the research outlook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79"/>
              </a:spcAft>
            </a:pPr>
            <a:r>
              <a:rPr sz="1800">
                <a:solidFill>
                  <a:srgbClr val="1F2530"/>
                </a:solidFill>
                <a:latin typeface="Aptos"/>
              </a:rPr>
              <a:t>Regenerate cement summary figures and CSV outputs after the alternative-fuels correction.</a:t>
            </a:r>
          </a:p>
          <a:p>
            <a:pPr>
              <a:spcAft>
                <a:spcPts val="179"/>
              </a:spcAft>
            </a:pPr>
            <a:r>
              <a:rPr sz="1800">
                <a:solidFill>
                  <a:srgbClr val="1F2530"/>
                </a:solidFill>
                <a:latin typeface="Aptos"/>
              </a:rPr>
              <a:t>Add automated identity checks for NPV, fuel costs, emissions costs, and normalized units.</a:t>
            </a:r>
          </a:p>
          <a:p>
            <a:pPr>
              <a:spcAft>
                <a:spcPts val="179"/>
              </a:spcAft>
            </a:pPr>
            <a:r>
              <a:rPr sz="1800">
                <a:solidFill>
                  <a:srgbClr val="1F2530"/>
                </a:solidFill>
                <a:latin typeface="Aptos"/>
              </a:rPr>
              <a:t>Create reusable templates for adding aluminium and chemical-sector technologies.</a:t>
            </a:r>
          </a:p>
          <a:p>
            <a:pPr>
              <a:spcAft>
                <a:spcPts val="179"/>
              </a:spcAft>
            </a:pPr>
            <a:r>
              <a:rPr sz="1800">
                <a:solidFill>
                  <a:srgbClr val="1F2530"/>
                </a:solidFill>
                <a:latin typeface="Aptos"/>
              </a:rPr>
              <a:t>Document parameter sources directly alongside assumptions.</a:t>
            </a:r>
          </a:p>
          <a:p>
            <a:pPr>
              <a:spcAft>
                <a:spcPts val="179"/>
              </a:spcAft>
            </a:pPr>
            <a:r>
              <a:rPr sz="1800">
                <a:solidFill>
                  <a:srgbClr val="1F2530"/>
                </a:solidFill>
                <a:latin typeface="Aptos"/>
              </a:rPr>
              <a:t>Keep generated outputs reproducible with sample size, seed, date, and model version.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Appendix: Baseline NPV Figures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Representative deterministic and mean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026-06-23-Mean_NPV_per_MWh_Electri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50269"/>
            <a:ext cx="5166360" cy="3458044"/>
          </a:xfrm>
          <a:prstGeom prst="rect">
            <a:avLst/>
          </a:prstGeom>
        </p:spPr>
      </p:pic>
      <p:pic>
        <p:nvPicPr>
          <p:cNvPr id="6" name="Picture 5" descr="2026-06-23-Mean_NPV_per_t_C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749113"/>
            <a:ext cx="5166360" cy="34603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